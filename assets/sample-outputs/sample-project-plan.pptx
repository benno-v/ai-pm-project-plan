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48640" cy="45720"/>
          </a:xfrm>
          <a:prstGeom prst="rect">
            <a:avLst/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8A8A"/>
                </a:solidFill>
                <a:latin typeface="Calibri"/>
              </a:rPr>
              <a:t>ACME CORP · PROJECT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B2545"/>
                </a:solidFill>
                <a:latin typeface="Georgia"/>
              </a:rPr>
              <a:t>Acme HQ Office Renovation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94302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4A4A4A"/>
                </a:solidFill>
                <a:latin typeface="Georgia"/>
              </a:rPr>
              <a:t>Design phase substantially complete. Permits are the current critical path with a five-day slip — mobilisation for construction is still tracking to 4 May.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2545"/>
                </a:solidFill>
                <a:latin typeface="Georgia"/>
              </a:rPr>
              <a:t>Acme Corp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51206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PROJECT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5376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2545"/>
                </a:solidFill>
                <a:latin typeface="Georgia"/>
              </a:rPr>
              <a:t>Benjamin Vermeulen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1206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STATUS AS 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376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2545"/>
                </a:solidFill>
                <a:latin typeface="Georgia"/>
              </a:rPr>
              <a:t>19 April 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EXECUTIVE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Where the project stands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622727" cy="1737360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165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OVERALL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84832"/>
            <a:ext cx="216552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C49A3A"/>
                </a:solidFill>
                <a:latin typeface="Georgia"/>
              </a:rPr>
              <a:t>26%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Duration-weighted average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2535" y="1645920"/>
            <a:ext cx="2622727" cy="1737360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1135" y="1847088"/>
            <a:ext cx="2165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MILESTONES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1135" y="2084832"/>
            <a:ext cx="216552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B2545"/>
                </a:solidFill>
                <a:latin typeface="Georgia"/>
              </a:rPr>
              <a:t>2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1135" y="297180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Achieved to 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1645920"/>
            <a:ext cx="2622727" cy="1737360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5031" y="1847088"/>
            <a:ext cx="2165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NEXT MILESTONE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1" y="2084832"/>
            <a:ext cx="216552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B2545"/>
                </a:solidFill>
                <a:latin typeface="Georgia"/>
              </a:rPr>
              <a:t>30 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5031" y="297180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Permits 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0327" y="1645920"/>
            <a:ext cx="2622727" cy="1737360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847088"/>
            <a:ext cx="2165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SCHEDULE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8927" y="2084832"/>
            <a:ext cx="216552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B2545"/>
                </a:solidFill>
                <a:latin typeface="Georgia"/>
              </a:rPr>
              <a:t>Watch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48927" y="297180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1 task(s) at 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40480"/>
            <a:ext cx="50800" cy="1645920"/>
          </a:xfrm>
          <a:prstGeom prst="rect">
            <a:avLst/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10454335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1A1A1A"/>
                </a:solidFill>
                <a:latin typeface="Georgia"/>
              </a:rPr>
              <a:t>Design phase substantially complete. Permits are the current critical path with a five-day slip — mobilisation for construction is still tracking to 4 May.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Phases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94560" y="2057400"/>
            <a:ext cx="917417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150241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Mar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150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Apr 2026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24150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53741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May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3741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27651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Jun 2026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27651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557242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Jul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57242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931152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Aug 2026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31152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305062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Sep 2026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305062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211226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MILESTONES</a:t>
            </a:r>
          </a:p>
        </p:txBody>
      </p:sp>
      <p:sp>
        <p:nvSpPr>
          <p:cNvPr id="19" name="Diamond 18"/>
          <p:cNvSpPr/>
          <p:nvPr/>
        </p:nvSpPr>
        <p:spPr>
          <a:xfrm>
            <a:off x="3238544" y="2249424"/>
            <a:ext cx="128016" cy="128016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1072" y="239572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27 Mar</a:t>
            </a:r>
          </a:p>
        </p:txBody>
      </p:sp>
      <p:sp>
        <p:nvSpPr>
          <p:cNvPr id="21" name="Diamond 20"/>
          <p:cNvSpPr/>
          <p:nvPr/>
        </p:nvSpPr>
        <p:spPr>
          <a:xfrm>
            <a:off x="4169257" y="2249424"/>
            <a:ext cx="128016" cy="128016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21785" y="239572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17 Apr</a:t>
            </a:r>
          </a:p>
        </p:txBody>
      </p:sp>
      <p:sp>
        <p:nvSpPr>
          <p:cNvPr id="23" name="Diamond 22"/>
          <p:cNvSpPr/>
          <p:nvPr/>
        </p:nvSpPr>
        <p:spPr>
          <a:xfrm>
            <a:off x="4745413" y="2249424"/>
            <a:ext cx="128016" cy="128016"/>
          </a:xfrm>
          <a:prstGeom prst="diamond">
            <a:avLst/>
          </a:prstGeom>
          <a:solidFill>
            <a:srgbClr val="AE7A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7941" y="2066544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30 Apr</a:t>
            </a:r>
          </a:p>
        </p:txBody>
      </p:sp>
      <p:sp>
        <p:nvSpPr>
          <p:cNvPr id="25" name="Diamond 24"/>
          <p:cNvSpPr/>
          <p:nvPr/>
        </p:nvSpPr>
        <p:spPr>
          <a:xfrm>
            <a:off x="4789733" y="2249424"/>
            <a:ext cx="128016" cy="128016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099970" y="2249424"/>
            <a:ext cx="128016" cy="128016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1078" y="2395728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8 May</a:t>
            </a:r>
          </a:p>
        </p:txBody>
      </p:sp>
      <p:sp>
        <p:nvSpPr>
          <p:cNvPr id="28" name="Diamond 27"/>
          <p:cNvSpPr/>
          <p:nvPr/>
        </p:nvSpPr>
        <p:spPr>
          <a:xfrm>
            <a:off x="6961397" y="2249424"/>
            <a:ext cx="128016" cy="128016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13925" y="239572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19 Jun</a:t>
            </a:r>
          </a:p>
        </p:txBody>
      </p:sp>
      <p:sp>
        <p:nvSpPr>
          <p:cNvPr id="30" name="Diamond 29"/>
          <p:cNvSpPr/>
          <p:nvPr/>
        </p:nvSpPr>
        <p:spPr>
          <a:xfrm>
            <a:off x="8512586" y="2249424"/>
            <a:ext cx="128016" cy="128016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114" y="239572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24 Jul</a:t>
            </a:r>
          </a:p>
        </p:txBody>
      </p:sp>
      <p:sp>
        <p:nvSpPr>
          <p:cNvPr id="32" name="Diamond 31"/>
          <p:cNvSpPr/>
          <p:nvPr/>
        </p:nvSpPr>
        <p:spPr>
          <a:xfrm>
            <a:off x="10861530" y="2249424"/>
            <a:ext cx="128016" cy="128016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4058" y="239572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15 Sep</a:t>
            </a:r>
          </a:p>
        </p:txBody>
      </p:sp>
      <p:sp>
        <p:nvSpPr>
          <p:cNvPr id="34" name="Diamond 33"/>
          <p:cNvSpPr/>
          <p:nvPr/>
        </p:nvSpPr>
        <p:spPr>
          <a:xfrm>
            <a:off x="11304727" y="2249424"/>
            <a:ext cx="128016" cy="128016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57255" y="2066544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25 Sep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94560" y="2514600"/>
            <a:ext cx="9174175" cy="0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28163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Design &amp; Permits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017520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2 Mar — 1 May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94560" y="2816352"/>
            <a:ext cx="2659181" cy="347472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194560" y="2816352"/>
            <a:ext cx="1953919" cy="347472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2843784"/>
            <a:ext cx="243972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73% complete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46557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Demolition &amp; Structural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36667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4 May — 19 Jun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86700" y="3465576"/>
            <a:ext cx="2038705" cy="347472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96428" y="3493008"/>
            <a:ext cx="18192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Calibri"/>
              </a:rPr>
              <a:t>0% complete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114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Fit-out &amp;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31596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22 Jun — 28 Aug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58364" y="4114800"/>
            <a:ext cx="2969419" cy="347472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68092" y="4142232"/>
            <a:ext cx="27499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Calibri"/>
              </a:rPr>
              <a:t>0% complete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47640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Snagging &amp; Handover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96519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31 Aug — 25 Sep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60742" y="4764024"/>
            <a:ext cx="1107993" cy="347472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70470" y="4791456"/>
            <a:ext cx="88853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Calibri"/>
              </a:rPr>
              <a:t>0% complete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321904" y="2057400"/>
            <a:ext cx="0" cy="3950208"/>
          </a:xfrm>
          <a:prstGeom prst="line">
            <a:avLst/>
          </a:prstGeom>
          <a:ln w="19050">
            <a:solidFill>
              <a:srgbClr val="C49A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001864" y="603504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49A3A"/>
                </a:solidFill>
                <a:latin typeface="Calibri"/>
              </a:rPr>
              <a:t>TODAY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Picture 56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DETAIL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Task-level Gantt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017520" y="1920240"/>
            <a:ext cx="83512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77176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7841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APR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27841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38162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MAY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38162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88827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JUN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88827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99148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JUL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9148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9813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AUG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9813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00478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SEP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400478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195681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8A8A8A"/>
                </a:solidFill>
                <a:latin typeface="Calibri"/>
              </a:rPr>
              <a:t>MILESTONES</a:t>
            </a:r>
          </a:p>
        </p:txBody>
      </p:sp>
      <p:sp>
        <p:nvSpPr>
          <p:cNvPr id="19" name="Diamond 18"/>
          <p:cNvSpPr/>
          <p:nvPr/>
        </p:nvSpPr>
        <p:spPr>
          <a:xfrm>
            <a:off x="3971256" y="2084832"/>
            <a:ext cx="109728" cy="109728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4640" y="221284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27 Mar</a:t>
            </a:r>
          </a:p>
        </p:txBody>
      </p:sp>
      <p:sp>
        <p:nvSpPr>
          <p:cNvPr id="21" name="Diamond 20"/>
          <p:cNvSpPr/>
          <p:nvPr/>
        </p:nvSpPr>
        <p:spPr>
          <a:xfrm>
            <a:off x="4818481" y="2084832"/>
            <a:ext cx="109728" cy="109728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1865" y="1901952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17 Apr</a:t>
            </a:r>
          </a:p>
        </p:txBody>
      </p:sp>
      <p:sp>
        <p:nvSpPr>
          <p:cNvPr id="23" name="Diamond 22"/>
          <p:cNvSpPr/>
          <p:nvPr/>
        </p:nvSpPr>
        <p:spPr>
          <a:xfrm>
            <a:off x="5342953" y="2084832"/>
            <a:ext cx="109728" cy="109728"/>
          </a:xfrm>
          <a:prstGeom prst="diamond">
            <a:avLst/>
          </a:prstGeom>
          <a:solidFill>
            <a:srgbClr val="AE7A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6337" y="221284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30 Apr</a:t>
            </a:r>
          </a:p>
        </p:txBody>
      </p:sp>
      <p:sp>
        <p:nvSpPr>
          <p:cNvPr id="25" name="Diamond 24"/>
          <p:cNvSpPr/>
          <p:nvPr/>
        </p:nvSpPr>
        <p:spPr>
          <a:xfrm>
            <a:off x="5383298" y="2084832"/>
            <a:ext cx="109728" cy="109728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665706" y="2084832"/>
            <a:ext cx="109728" cy="109728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7670" y="190195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8 May</a:t>
            </a:r>
          </a:p>
        </p:txBody>
      </p:sp>
      <p:sp>
        <p:nvSpPr>
          <p:cNvPr id="28" name="Diamond 27"/>
          <p:cNvSpPr/>
          <p:nvPr/>
        </p:nvSpPr>
        <p:spPr>
          <a:xfrm>
            <a:off x="7360155" y="2084832"/>
            <a:ext cx="109728" cy="109728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3539" y="221284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19 Jun</a:t>
            </a:r>
          </a:p>
        </p:txBody>
      </p:sp>
      <p:sp>
        <p:nvSpPr>
          <p:cNvPr id="30" name="Diamond 29"/>
          <p:cNvSpPr/>
          <p:nvPr/>
        </p:nvSpPr>
        <p:spPr>
          <a:xfrm>
            <a:off x="8772196" y="2084832"/>
            <a:ext cx="109728" cy="109728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5580" y="221284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24 Jul</a:t>
            </a:r>
          </a:p>
        </p:txBody>
      </p:sp>
      <p:sp>
        <p:nvSpPr>
          <p:cNvPr id="32" name="Diamond 31"/>
          <p:cNvSpPr/>
          <p:nvPr/>
        </p:nvSpPr>
        <p:spPr>
          <a:xfrm>
            <a:off x="10910430" y="2084832"/>
            <a:ext cx="109728" cy="109728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53814" y="2212848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15 Sep</a:t>
            </a:r>
          </a:p>
        </p:txBody>
      </p:sp>
      <p:sp>
        <p:nvSpPr>
          <p:cNvPr id="34" name="Diamond 33"/>
          <p:cNvSpPr/>
          <p:nvPr/>
        </p:nvSpPr>
        <p:spPr>
          <a:xfrm>
            <a:off x="11313871" y="2084832"/>
            <a:ext cx="109728" cy="109728"/>
          </a:xfrm>
          <a:prstGeom prst="diamond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57255" y="1901952"/>
            <a:ext cx="8229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4A4A4A"/>
                </a:solidFill>
                <a:latin typeface="Calibri"/>
              </a:rPr>
              <a:t>25 Sep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017520" y="2322576"/>
            <a:ext cx="8351215" cy="0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230428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Programme &amp; brief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230428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17520" y="2370963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017520" y="2370963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262051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Concept design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48840" y="262051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Architect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82336" y="2687193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82336" y="2687193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293674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Detailed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48840" y="293674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Architect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47152" y="3003423"/>
            <a:ext cx="726193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47152" y="3003423"/>
            <a:ext cx="726193" cy="182880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325297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Permit applications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325297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Permit Consultant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29561" y="3319653"/>
            <a:ext cx="968256" cy="182880"/>
          </a:xfrm>
          <a:prstGeom prst="roundRect">
            <a:avLst>
              <a:gd name="adj" fmla="val 45000"/>
            </a:avLst>
          </a:prstGeom>
          <a:solidFill>
            <a:srgbClr val="F7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429561" y="3319653"/>
            <a:ext cx="532540" cy="182880"/>
          </a:xfrm>
          <a:prstGeom prst="roundRect">
            <a:avLst>
              <a:gd name="adj" fmla="val 45000"/>
            </a:avLst>
          </a:prstGeom>
          <a:solidFill>
            <a:srgbClr val="AE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356920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Tender &amp; contractor selection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48840" y="356920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11969" y="3635883"/>
            <a:ext cx="726193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711969" y="3635883"/>
            <a:ext cx="254167" cy="182880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388543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Site handover &amp; mobilisation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388543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559194" y="3952113"/>
            <a:ext cx="161376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420166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Demolition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420166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841602" y="4268343"/>
            <a:ext cx="726192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451789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Structural alterations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451789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Structural Engineer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88827" y="4584573"/>
            <a:ext cx="726192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483412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MEP first fix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8840" y="483412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536051" y="4900803"/>
            <a:ext cx="1291009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515035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Partitions &amp; ceilings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8840" y="515035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383276" y="5217033"/>
            <a:ext cx="1008601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46658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Finishes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48840" y="546658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30501" y="5533263"/>
            <a:ext cx="726192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8640" y="5782818"/>
            <a:ext cx="228600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FF&amp;E installation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8840" y="5782818"/>
            <a:ext cx="822960" cy="3162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FF&amp;E Supplier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95317" y="5849493"/>
            <a:ext cx="443785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4954033" y="1920240"/>
            <a:ext cx="0" cy="4178808"/>
          </a:xfrm>
          <a:prstGeom prst="line">
            <a:avLst/>
          </a:prstGeom>
          <a:ln w="19050">
            <a:solidFill>
              <a:srgbClr val="C49A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633993" y="1545336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49A3A"/>
                </a:solidFill>
                <a:latin typeface="Calibri"/>
              </a:rPr>
              <a:t>TODAY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" y="61447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Shaded bar: remaining   ·   Accent fill: complete   ·   Warm fill: at risk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2" name="Picture 81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Milestone tracker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783080"/>
            <a:ext cx="10728655" cy="0"/>
          </a:xfrm>
          <a:prstGeom prst="line">
            <a:avLst/>
          </a:prstGeom>
          <a:ln w="1270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67512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05433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671766" y="1719072"/>
            <a:ext cx="128016" cy="128016"/>
          </a:xfrm>
          <a:prstGeom prst="ellipse">
            <a:avLst/>
          </a:prstGeom>
          <a:solidFill>
            <a:srgbClr val="AE7A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30714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43355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19198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2401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06680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96167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2286000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50592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17 APRIL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974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Detailed design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00400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Detailed drawings, spec, and FF&amp;E schedule approved.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66744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667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Achieved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2978" y="2286000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1578" y="2450592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30 APRIL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1578" y="26974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Permits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1578" y="3200400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City sign-off on building and mechanical permits. Currently five working days behind the target date.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51578" y="3666744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F7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1578" y="36667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AE7A2A"/>
                </a:solidFill>
                <a:latin typeface="Calibri"/>
              </a:rPr>
              <a:t>At risk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7316" y="2286000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2450592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1 MAY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26974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Contractor appointed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3200400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Signed main contract with preferred contractor.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5916" y="3666744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5916" y="36667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306824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471416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8 MAY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71830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Site handover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221224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Physical handover of the building to the main contractor for works.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87568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687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978" y="4306824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1578" y="4471416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19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1578" y="471830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Structural alterations complete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1578" y="5221224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All demolition and structural changes signed off by the engineer.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51578" y="5687568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51578" y="5687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97316" y="4306824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5916" y="4471416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24 JULY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5916" y="471830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MEP first fix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5916" y="5221224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Mechanical, electrical, and plumbing first fix signed off.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25916" y="5687568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5916" y="5687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Picture 50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NEXT FORTNIGHT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What lands in the next 14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364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Tasks completing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2057400"/>
            <a:ext cx="5364327.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1945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49A3A"/>
                </a:solidFill>
                <a:latin typeface="Georgia"/>
              </a:rPr>
              <a:t>30 Apr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43127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Permit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14016"/>
            <a:ext cx="43127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Permit Consultant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49A3A"/>
                </a:solidFill>
                <a:latin typeface="Georgia"/>
              </a:rPr>
              <a:t>1 May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51760"/>
            <a:ext cx="43127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Tender &amp; contractor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871216"/>
            <a:ext cx="43127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1691640"/>
            <a:ext cx="5364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Milestones in window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78727.5" y="2057400"/>
            <a:ext cx="5364327.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78727" y="21945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49A3A"/>
                </a:solidFill>
                <a:latin typeface="Georgia"/>
              </a:rPr>
              <a:t>30 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0287" y="2194560"/>
            <a:ext cx="33983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Permits approved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2414016"/>
            <a:ext cx="33983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Permit Consultant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28655" y="2286000"/>
            <a:ext cx="868680" cy="237744"/>
          </a:xfrm>
          <a:prstGeom prst="roundRect">
            <a:avLst>
              <a:gd name="adj" fmla="val 45000"/>
            </a:avLst>
          </a:prstGeom>
          <a:solidFill>
            <a:srgbClr val="F7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28655" y="2286000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AE7A2A"/>
                </a:solidFill>
                <a:latin typeface="Calibri"/>
              </a:rPr>
              <a:t>At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26517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49A3A"/>
                </a:solidFill>
                <a:latin typeface="Georgia"/>
              </a:rPr>
              <a:t>1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0287" y="2651760"/>
            <a:ext cx="33983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Contractor appointed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0287" y="2871216"/>
            <a:ext cx="33983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28655" y="2743200"/>
            <a:ext cx="868680" cy="237744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28655" y="2743200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REVIEW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Items that need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Bring these to the project review — each one needs a client decision or an escalation to keep the plan on track.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1094415" cy="1143000"/>
          </a:xfrm>
          <a:prstGeom prst="roundRect">
            <a:avLst>
              <a:gd name="adj" fmla="val 4000"/>
            </a:avLst>
          </a:prstGeom>
          <a:solidFill>
            <a:srgbClr val="F7EFDF"/>
          </a:solidFill>
          <a:ln w="9525">
            <a:solidFill>
              <a:srgbClr val="AE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73152" cy="1143000"/>
          </a:xfrm>
          <a:prstGeom prst="rect">
            <a:avLst/>
          </a:prstGeom>
          <a:solidFill>
            <a:srgbClr val="AE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E7A2A"/>
                </a:solidFill>
                <a:latin typeface="Calibri"/>
              </a:rPr>
              <a:t>MILESTONES · M03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07792"/>
            <a:ext cx="1045433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Permit sign-off is trending five working days behind the internal target. Recommend the client clears a pre-meeting slot with the city permits office in the next ten days to de-risk the 30 April date.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48640" cy="45720"/>
          </a:xfrm>
          <a:prstGeom prst="rect">
            <a:avLst/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8A8A"/>
                </a:solidFill>
                <a:latin typeface="Calibri"/>
              </a:rPr>
              <a:t>HANDOVER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B2545"/>
                </a:solidFill>
                <a:latin typeface="Georgia"/>
              </a:rPr>
              <a:t>Questions, or somewhere you'd like me to dig deeper?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887553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4A4A4A"/>
                </a:solidFill>
                <a:latin typeface="Georgia"/>
              </a:rPr>
              <a:t>This deck pairs with a spreadsheet and an interactive HTML view covering the same plan at full resolution. Both ship with the package for your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846320"/>
            <a:ext cx="3840480" cy="1143000"/>
          </a:xfrm>
          <a:prstGeom prst="roundRect">
            <a:avLst>
              <a:gd name="adj" fmla="val 6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109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PROJECT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B2545"/>
                </a:solidFill>
                <a:latin typeface="Georgia"/>
              </a:rPr>
              <a:t>Benjamin Vermeulen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Acme Corp · Acme HQ Office Renovation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