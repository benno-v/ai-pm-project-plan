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45720"/>
          </a:xfrm>
          <a:prstGeom prst="rect">
            <a:avLst/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A"/>
                </a:solidFill>
                <a:latin typeface="Calibri"/>
              </a:rPr>
              <a:t>ACME CORP · PROJECT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094415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B2545"/>
                </a:solidFill>
                <a:latin typeface="Georgia"/>
              </a:rPr>
              <a:t>Acme HQ Office Renovation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66160"/>
            <a:ext cx="943025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4A4A4A"/>
                </a:solidFill>
                <a:latin typeface="Georgia"/>
              </a:rPr>
              <a:t>Design phase substantially complete. Permits are the current critical path with a five-day slip — mobilisation for construction is still tracking to 4 May.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1206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76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Georgia"/>
              </a:rPr>
              <a:t>Acme Corp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51206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PROJECT MANAGER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5376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Georgia"/>
              </a:rPr>
              <a:t>Benjamin Vermeulen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120640"/>
            <a:ext cx="27432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STATUS AS OF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37667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0B2545"/>
                </a:solidFill>
                <a:latin typeface="Georgia"/>
              </a:rPr>
              <a:t>19 April 2026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Picture 12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01 / 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49A3A"/>
                </a:solidFill>
                <a:latin typeface="Calibri"/>
              </a:rPr>
              <a:t>EXECUTIVE SNAPSHOT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Where the project stands today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22727" cy="173736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47088"/>
            <a:ext cx="21655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OVERALL COMPLETE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084832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C49A3A"/>
                </a:solidFill>
                <a:latin typeface="Georgia"/>
              </a:rPr>
              <a:t>26%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7180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4A4A"/>
                </a:solidFill>
                <a:latin typeface="Calibri"/>
              </a:rPr>
              <a:t>Duration-weighted average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72535" y="1645920"/>
            <a:ext cx="2622727" cy="173736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01135" y="1847088"/>
            <a:ext cx="21655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MILESTONES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01135" y="2084832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Georgia"/>
              </a:rPr>
              <a:t>2 / 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01135" y="297180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4A4A"/>
                </a:solidFill>
                <a:latin typeface="Calibri"/>
              </a:rPr>
              <a:t>Achieved to date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6431" y="1645920"/>
            <a:ext cx="2622727" cy="173736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25031" y="1847088"/>
            <a:ext cx="21655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NEXT MILESTONE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5031" y="2084832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Georgia"/>
              </a:rPr>
              <a:t>30 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5031" y="297180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4A4A"/>
                </a:solidFill>
                <a:latin typeface="Calibri"/>
              </a:rPr>
              <a:t>Permits approved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20327" y="1645920"/>
            <a:ext cx="2622727" cy="1737360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48927" y="1847088"/>
            <a:ext cx="2165527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SCHEDULE HEALTH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48927" y="2084832"/>
            <a:ext cx="2165527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0B2545"/>
                </a:solidFill>
                <a:latin typeface="Georgia"/>
              </a:rPr>
              <a:t>Watch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48927" y="2971800"/>
            <a:ext cx="216552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4A4A"/>
                </a:solidFill>
                <a:latin typeface="Calibri"/>
              </a:rPr>
              <a:t>1 task(s) at risk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50800" cy="1645920"/>
          </a:xfrm>
          <a:prstGeom prst="rect">
            <a:avLst/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" y="3840480"/>
            <a:ext cx="10454335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1A1A1A"/>
                </a:solidFill>
                <a:latin typeface="Georgia"/>
              </a:rPr>
              <a:t>Design phase substantially complete. Permits are the current critical path with a five-day slip — mobilisation for construction is still tracking to 4 May.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3" name="Picture 22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02 / 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49A3A"/>
                </a:solidFill>
                <a:latin typeface="Calibri"/>
              </a:rPr>
              <a:t>TIMELINE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Phases at a glance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194560" y="2057400"/>
            <a:ext cx="917417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150241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Mar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524150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Apr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24150" y="2057400"/>
            <a:ext cx="0" cy="39502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853741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May 2026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853741" y="2057400"/>
            <a:ext cx="0" cy="39502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227651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Jun 2026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27651" y="2057400"/>
            <a:ext cx="0" cy="39502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557242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Jul 2026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557242" y="2057400"/>
            <a:ext cx="0" cy="39502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931152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Aug 2026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931152" y="2057400"/>
            <a:ext cx="0" cy="39502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305062" y="164592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Sep 2026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305062" y="2057400"/>
            <a:ext cx="0" cy="39502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2112264"/>
            <a:ext cx="14630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MILESTONES</a:t>
            </a:r>
          </a:p>
        </p:txBody>
      </p:sp>
      <p:sp>
        <p:nvSpPr>
          <p:cNvPr id="19" name="Diamond 18"/>
          <p:cNvSpPr/>
          <p:nvPr/>
        </p:nvSpPr>
        <p:spPr>
          <a:xfrm>
            <a:off x="3238544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91072" y="239572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27 Mar</a:t>
            </a:r>
          </a:p>
        </p:txBody>
      </p:sp>
      <p:sp>
        <p:nvSpPr>
          <p:cNvPr id="21" name="Diamond 20"/>
          <p:cNvSpPr/>
          <p:nvPr/>
        </p:nvSpPr>
        <p:spPr>
          <a:xfrm>
            <a:off x="4169257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21785" y="239572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17 Apr</a:t>
            </a:r>
          </a:p>
        </p:txBody>
      </p:sp>
      <p:sp>
        <p:nvSpPr>
          <p:cNvPr id="23" name="Diamond 22"/>
          <p:cNvSpPr/>
          <p:nvPr/>
        </p:nvSpPr>
        <p:spPr>
          <a:xfrm>
            <a:off x="4745413" y="2249424"/>
            <a:ext cx="128016" cy="128016"/>
          </a:xfrm>
          <a:prstGeom prst="diamond">
            <a:avLst/>
          </a:prstGeom>
          <a:solidFill>
            <a:srgbClr val="AE7A2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97941" y="2066544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30 Apr</a:t>
            </a:r>
          </a:p>
        </p:txBody>
      </p:sp>
      <p:sp>
        <p:nvSpPr>
          <p:cNvPr id="25" name="Diamond 24"/>
          <p:cNvSpPr/>
          <p:nvPr/>
        </p:nvSpPr>
        <p:spPr>
          <a:xfrm>
            <a:off x="4789733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099970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1078" y="2395728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8 May</a:t>
            </a:r>
          </a:p>
        </p:txBody>
      </p:sp>
      <p:sp>
        <p:nvSpPr>
          <p:cNvPr id="28" name="Diamond 27"/>
          <p:cNvSpPr/>
          <p:nvPr/>
        </p:nvSpPr>
        <p:spPr>
          <a:xfrm>
            <a:off x="6961397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13925" y="239572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19 Jun</a:t>
            </a:r>
          </a:p>
        </p:txBody>
      </p:sp>
      <p:sp>
        <p:nvSpPr>
          <p:cNvPr id="30" name="Diamond 29"/>
          <p:cNvSpPr/>
          <p:nvPr/>
        </p:nvSpPr>
        <p:spPr>
          <a:xfrm>
            <a:off x="8512586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65114" y="239572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24 Jul</a:t>
            </a:r>
          </a:p>
        </p:txBody>
      </p:sp>
      <p:sp>
        <p:nvSpPr>
          <p:cNvPr id="32" name="Diamond 31"/>
          <p:cNvSpPr/>
          <p:nvPr/>
        </p:nvSpPr>
        <p:spPr>
          <a:xfrm>
            <a:off x="10861530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14058" y="239572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15 Sep</a:t>
            </a:r>
          </a:p>
        </p:txBody>
      </p:sp>
      <p:sp>
        <p:nvSpPr>
          <p:cNvPr id="34" name="Diamond 33"/>
          <p:cNvSpPr/>
          <p:nvPr/>
        </p:nvSpPr>
        <p:spPr>
          <a:xfrm>
            <a:off x="11304727" y="2249424"/>
            <a:ext cx="128016" cy="128016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7255" y="2066544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25 Sep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194560" y="2514600"/>
            <a:ext cx="9174175" cy="0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281635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Design &amp; Permits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3017520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2 Mar — 1 May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2194560" y="2816352"/>
            <a:ext cx="2659181" cy="347472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2194560" y="2816352"/>
            <a:ext cx="1953919" cy="347472"/>
          </a:xfrm>
          <a:prstGeom prst="roundRect">
            <a:avLst>
              <a:gd name="adj" fmla="val 45000"/>
            </a:avLst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04288" y="2843784"/>
            <a:ext cx="2439725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FFFFFF"/>
                </a:solidFill>
                <a:latin typeface="Calibri"/>
              </a:rPr>
              <a:t>73% complete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346557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Demolition &amp; Structural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3666744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4 May — 19 Jun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986700" y="3465576"/>
            <a:ext cx="2038705" cy="347472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96428" y="3493008"/>
            <a:ext cx="1819249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0% complete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411480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Fit-out &amp; Services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4315968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22 Jun — 28 Aug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158364" y="4114800"/>
            <a:ext cx="2969419" cy="347472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268092" y="4142232"/>
            <a:ext cx="2749963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0% complete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47640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Snagging &amp; Handover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496519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31 Aug — 25 Sep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10260742" y="4764024"/>
            <a:ext cx="1107993" cy="347472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10370470" y="4791456"/>
            <a:ext cx="888537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0% complete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4321904" y="2057400"/>
            <a:ext cx="0" cy="3950208"/>
          </a:xfrm>
          <a:prstGeom prst="line">
            <a:avLst/>
          </a:prstGeom>
          <a:ln w="19050">
            <a:solidFill>
              <a:srgbClr val="C49A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4001864" y="6035040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C49A3A"/>
                </a:solidFill>
                <a:latin typeface="Calibri"/>
              </a:rPr>
              <a:t>TODAY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7" name="Picture 56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03 / 08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49A3A"/>
                </a:solidFill>
                <a:latin typeface="Calibri"/>
              </a:rPr>
              <a:t>DETAIL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Task-level Gantt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17520" y="1920240"/>
            <a:ext cx="83512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2977176" y="16002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MAR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27841" y="16002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APR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227841" y="1920240"/>
            <a:ext cx="0" cy="41788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438162" y="16002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MAY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38162" y="1920240"/>
            <a:ext cx="0" cy="41788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688827" y="16002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JUN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688827" y="1920240"/>
            <a:ext cx="0" cy="41788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899148" y="16002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JUL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99148" y="1920240"/>
            <a:ext cx="0" cy="41788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9149813" y="16002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AUG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9813" y="1920240"/>
            <a:ext cx="0" cy="41788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400478" y="1600200"/>
            <a:ext cx="10972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 i="0">
                <a:solidFill>
                  <a:srgbClr val="8A8A8A"/>
                </a:solidFill>
                <a:latin typeface="Calibri"/>
              </a:rPr>
              <a:t>SEP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400478" y="1920240"/>
            <a:ext cx="0" cy="4178808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48640" y="1956816"/>
            <a:ext cx="22860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 i="0">
                <a:solidFill>
                  <a:srgbClr val="8A8A8A"/>
                </a:solidFill>
                <a:latin typeface="Calibri"/>
              </a:rPr>
              <a:t>MILESTONES</a:t>
            </a:r>
          </a:p>
        </p:txBody>
      </p:sp>
      <p:sp>
        <p:nvSpPr>
          <p:cNvPr id="19" name="Diamond 18"/>
          <p:cNvSpPr/>
          <p:nvPr/>
        </p:nvSpPr>
        <p:spPr>
          <a:xfrm>
            <a:off x="3971256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14640" y="221284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27 Mar</a:t>
            </a:r>
          </a:p>
        </p:txBody>
      </p:sp>
      <p:sp>
        <p:nvSpPr>
          <p:cNvPr id="21" name="Diamond 20"/>
          <p:cNvSpPr/>
          <p:nvPr/>
        </p:nvSpPr>
        <p:spPr>
          <a:xfrm>
            <a:off x="4818481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1865" y="1901952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17 Apr</a:t>
            </a:r>
          </a:p>
        </p:txBody>
      </p:sp>
      <p:sp>
        <p:nvSpPr>
          <p:cNvPr id="23" name="Diamond 22"/>
          <p:cNvSpPr/>
          <p:nvPr/>
        </p:nvSpPr>
        <p:spPr>
          <a:xfrm>
            <a:off x="5342953" y="2084832"/>
            <a:ext cx="109728" cy="109728"/>
          </a:xfrm>
          <a:prstGeom prst="diamond">
            <a:avLst/>
          </a:prstGeom>
          <a:solidFill>
            <a:srgbClr val="AE7A2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86337" y="221284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30 Apr</a:t>
            </a:r>
          </a:p>
        </p:txBody>
      </p:sp>
      <p:sp>
        <p:nvSpPr>
          <p:cNvPr id="25" name="Diamond 24"/>
          <p:cNvSpPr/>
          <p:nvPr/>
        </p:nvSpPr>
        <p:spPr>
          <a:xfrm>
            <a:off x="5383298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iamond 25"/>
          <p:cNvSpPr/>
          <p:nvPr/>
        </p:nvSpPr>
        <p:spPr>
          <a:xfrm>
            <a:off x="5665706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77670" y="1901952"/>
            <a:ext cx="685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8 May</a:t>
            </a:r>
          </a:p>
        </p:txBody>
      </p:sp>
      <p:sp>
        <p:nvSpPr>
          <p:cNvPr id="28" name="Diamond 27"/>
          <p:cNvSpPr/>
          <p:nvPr/>
        </p:nvSpPr>
        <p:spPr>
          <a:xfrm>
            <a:off x="7360155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003539" y="221284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19 Jun</a:t>
            </a:r>
          </a:p>
        </p:txBody>
      </p:sp>
      <p:sp>
        <p:nvSpPr>
          <p:cNvPr id="30" name="Diamond 29"/>
          <p:cNvSpPr/>
          <p:nvPr/>
        </p:nvSpPr>
        <p:spPr>
          <a:xfrm>
            <a:off x="8772196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5580" y="221284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24 Jul</a:t>
            </a:r>
          </a:p>
        </p:txBody>
      </p:sp>
      <p:sp>
        <p:nvSpPr>
          <p:cNvPr id="32" name="Diamond 31"/>
          <p:cNvSpPr/>
          <p:nvPr/>
        </p:nvSpPr>
        <p:spPr>
          <a:xfrm>
            <a:off x="10910430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553814" y="2212848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15 Sep</a:t>
            </a:r>
          </a:p>
        </p:txBody>
      </p:sp>
      <p:sp>
        <p:nvSpPr>
          <p:cNvPr id="34" name="Diamond 33"/>
          <p:cNvSpPr/>
          <p:nvPr/>
        </p:nvSpPr>
        <p:spPr>
          <a:xfrm>
            <a:off x="11313871" y="2084832"/>
            <a:ext cx="109728" cy="109728"/>
          </a:xfrm>
          <a:prstGeom prst="diamond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57255" y="1901952"/>
            <a:ext cx="822959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50" b="0" i="0">
                <a:solidFill>
                  <a:srgbClr val="4A4A4A"/>
                </a:solidFill>
                <a:latin typeface="Calibri"/>
              </a:rPr>
              <a:t>25 Sep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017520" y="2322576"/>
            <a:ext cx="8351215" cy="0"/>
          </a:xfrm>
          <a:prstGeom prst="line">
            <a:avLst/>
          </a:prstGeom>
          <a:ln w="508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548640" y="230428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Programme &amp; brief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148840" y="230428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PM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3017520" y="2370963"/>
            <a:ext cx="443784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3017520" y="2370963"/>
            <a:ext cx="443784" cy="182880"/>
          </a:xfrm>
          <a:prstGeom prst="roundRect">
            <a:avLst>
              <a:gd name="adj" fmla="val 45000"/>
            </a:avLst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48640" y="262051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Concept design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148840" y="262051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Architect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582336" y="2687193"/>
            <a:ext cx="443784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582336" y="2687193"/>
            <a:ext cx="443784" cy="182880"/>
          </a:xfrm>
          <a:prstGeom prst="roundRect">
            <a:avLst>
              <a:gd name="adj" fmla="val 45000"/>
            </a:avLst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48640" y="293674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Detailed design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48840" y="293674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Architect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47152" y="3003423"/>
            <a:ext cx="726193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4147152" y="3003423"/>
            <a:ext cx="726193" cy="182880"/>
          </a:xfrm>
          <a:prstGeom prst="roundRect">
            <a:avLst>
              <a:gd name="adj" fmla="val 45000"/>
            </a:avLst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48640" y="325297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Permit applications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48840" y="325297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Permit Consultant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429561" y="3319653"/>
            <a:ext cx="968256" cy="182880"/>
          </a:xfrm>
          <a:prstGeom prst="roundRect">
            <a:avLst>
              <a:gd name="adj" fmla="val 45000"/>
            </a:avLst>
          </a:prstGeom>
          <a:solidFill>
            <a:srgbClr val="F7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4429561" y="3319653"/>
            <a:ext cx="532540" cy="182880"/>
          </a:xfrm>
          <a:prstGeom prst="roundRect">
            <a:avLst>
              <a:gd name="adj" fmla="val 45000"/>
            </a:avLst>
          </a:prstGeom>
          <a:solidFill>
            <a:srgbClr val="A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48640" y="356920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Tender &amp; contractor selection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2148840" y="356920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PM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711969" y="3635883"/>
            <a:ext cx="726193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4711969" y="3635883"/>
            <a:ext cx="254167" cy="182880"/>
          </a:xfrm>
          <a:prstGeom prst="roundRect">
            <a:avLst>
              <a:gd name="adj" fmla="val 45000"/>
            </a:avLst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388543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Site handover &amp; mobilisation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48840" y="388543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Contractor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559194" y="3952113"/>
            <a:ext cx="161376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48640" y="420166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Demolition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148840" y="420166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Contractor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5841602" y="4268343"/>
            <a:ext cx="726192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451789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Structural alterations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48840" y="451789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Structural Engineer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688827" y="4584573"/>
            <a:ext cx="726192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83412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MEP first fix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148840" y="483412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Contractor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7536051" y="4900803"/>
            <a:ext cx="1291009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48640" y="515035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Partitions &amp; ceilings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148840" y="515035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Contractor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8383276" y="5217033"/>
            <a:ext cx="1008601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48640" y="546658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Finishes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2148840" y="546658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Contractor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9230501" y="5533263"/>
            <a:ext cx="726192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548640" y="5782818"/>
            <a:ext cx="228600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FF&amp;E installation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148840" y="5782818"/>
            <a:ext cx="822960" cy="3162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FF&amp;E Supplier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9795317" y="5849493"/>
            <a:ext cx="443785" cy="182880"/>
          </a:xfrm>
          <a:prstGeom prst="roundRect">
            <a:avLst>
              <a:gd name="adj" fmla="val 45000"/>
            </a:avLst>
          </a:prstGeom>
          <a:solidFill>
            <a:srgbClr val="E7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8" name="Connector 77"/>
          <p:cNvCxnSpPr/>
          <p:nvPr/>
        </p:nvCxnSpPr>
        <p:spPr>
          <a:xfrm>
            <a:off x="4954033" y="1920240"/>
            <a:ext cx="0" cy="4178808"/>
          </a:xfrm>
          <a:prstGeom prst="line">
            <a:avLst/>
          </a:prstGeom>
          <a:ln w="19050">
            <a:solidFill>
              <a:srgbClr val="C49A3A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9" name="TextBox 78"/>
          <p:cNvSpPr txBox="1"/>
          <p:nvPr/>
        </p:nvSpPr>
        <p:spPr>
          <a:xfrm>
            <a:off x="4633993" y="1545336"/>
            <a:ext cx="7315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800" b="1" i="0">
                <a:solidFill>
                  <a:srgbClr val="C49A3A"/>
                </a:solidFill>
                <a:latin typeface="Calibri"/>
              </a:rPr>
              <a:t>TODAY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48640" y="614476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8A8A8A"/>
                </a:solidFill>
                <a:latin typeface="Calibri"/>
              </a:rPr>
              <a:t>Shaded bar: remaining   ·   Accent fill: complete   ·   Warm fill: at risk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82" name="Picture 81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83" name="TextBox 82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04 / 08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49A3A"/>
                </a:solidFill>
                <a:latin typeface="Calibri"/>
              </a:rPr>
              <a:t>MILESTONES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Milestone tracker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731520" y="1783080"/>
            <a:ext cx="10728655" cy="0"/>
          </a:xfrm>
          <a:prstGeom prst="line">
            <a:avLst/>
          </a:prstGeom>
          <a:ln w="1270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667512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05433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671766" y="1719072"/>
            <a:ext cx="128016" cy="128016"/>
          </a:xfrm>
          <a:prstGeom prst="ellipse">
            <a:avLst/>
          </a:prstGeom>
          <a:solidFill>
            <a:srgbClr val="AE7A2A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30714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143355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619198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682401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806680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396167" y="1719072"/>
            <a:ext cx="128016" cy="128016"/>
          </a:xfrm>
          <a:prstGeom prst="ellipse">
            <a:avLst/>
          </a:prstGeom>
          <a:solidFill>
            <a:srgbClr val="3F7A52"/>
          </a:solidFill>
          <a:ln w="952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8640" y="2286000"/>
            <a:ext cx="3545738" cy="1792224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2450592"/>
            <a:ext cx="308853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49A3A"/>
                </a:solidFill>
                <a:latin typeface="Calibri"/>
              </a:rPr>
              <a:t>17 APRIL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6974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Detailed design sign-off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200400"/>
            <a:ext cx="308853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Calibri"/>
              </a:rPr>
              <a:t>Detailed drawings, spec, and FF&amp;E schedule approved.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3666744"/>
            <a:ext cx="868680" cy="256032"/>
          </a:xfrm>
          <a:prstGeom prst="roundRect">
            <a:avLst>
              <a:gd name="adj" fmla="val 45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6667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3F7A52"/>
                </a:solidFill>
                <a:latin typeface="Calibri"/>
              </a:rPr>
              <a:t>Achieved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22978" y="2286000"/>
            <a:ext cx="3545738" cy="1792224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51578" y="2450592"/>
            <a:ext cx="308853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49A3A"/>
                </a:solidFill>
                <a:latin typeface="Calibri"/>
              </a:rPr>
              <a:t>30 APRIL 2026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1578" y="26974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Permits approved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1578" y="3200400"/>
            <a:ext cx="308853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Calibri"/>
              </a:rPr>
              <a:t>City sign-off on building and mechanical permits. Currently five working days behind the target date.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51578" y="3666744"/>
            <a:ext cx="868680" cy="256032"/>
          </a:xfrm>
          <a:prstGeom prst="roundRect">
            <a:avLst>
              <a:gd name="adj" fmla="val 45000"/>
            </a:avLst>
          </a:prstGeom>
          <a:solidFill>
            <a:srgbClr val="F7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51578" y="36667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E7A2A"/>
                </a:solidFill>
                <a:latin typeface="Calibri"/>
              </a:rPr>
              <a:t>At risk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97316" y="2286000"/>
            <a:ext cx="3545738" cy="1792224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5916" y="2450592"/>
            <a:ext cx="308853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49A3A"/>
                </a:solidFill>
                <a:latin typeface="Calibri"/>
              </a:rPr>
              <a:t>1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5916" y="2697480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Contractor appointed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5916" y="3200400"/>
            <a:ext cx="308853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Calibri"/>
              </a:rPr>
              <a:t>Signed main contract with preferred contractor.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5916" y="3666744"/>
            <a:ext cx="868680" cy="256032"/>
          </a:xfrm>
          <a:prstGeom prst="roundRect">
            <a:avLst>
              <a:gd name="adj" fmla="val 45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325916" y="3666744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3F7A52"/>
                </a:solidFill>
                <a:latin typeface="Calibri"/>
              </a:rPr>
              <a:t>On track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06824"/>
            <a:ext cx="3545738" cy="1792224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7240" y="4471416"/>
            <a:ext cx="308853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49A3A"/>
                </a:solidFill>
                <a:latin typeface="Calibri"/>
              </a:rPr>
              <a:t>8 MAY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7240" y="4718304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Site handover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" y="5221224"/>
            <a:ext cx="308853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Calibri"/>
              </a:rPr>
              <a:t>Physical handover of the building to the main contractor for works.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7240" y="5687568"/>
            <a:ext cx="868680" cy="256032"/>
          </a:xfrm>
          <a:prstGeom prst="roundRect">
            <a:avLst>
              <a:gd name="adj" fmla="val 45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68756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3F7A52"/>
                </a:solidFill>
                <a:latin typeface="Calibri"/>
              </a:rPr>
              <a:t>On track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322978" y="4306824"/>
            <a:ext cx="3545738" cy="1792224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1578" y="4471416"/>
            <a:ext cx="308853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49A3A"/>
                </a:solidFill>
                <a:latin typeface="Calibri"/>
              </a:rPr>
              <a:t>19 JUNE 2026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1578" y="4718304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Structural alterations complete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1578" y="5221224"/>
            <a:ext cx="308853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Calibri"/>
              </a:rPr>
              <a:t>All demolition and structural changes signed off by the engineer.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51578" y="5687568"/>
            <a:ext cx="868680" cy="256032"/>
          </a:xfrm>
          <a:prstGeom prst="roundRect">
            <a:avLst>
              <a:gd name="adj" fmla="val 45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51578" y="568756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3F7A52"/>
                </a:solidFill>
                <a:latin typeface="Calibri"/>
              </a:rPr>
              <a:t>On track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97316" y="4306824"/>
            <a:ext cx="3545738" cy="1792224"/>
          </a:xfrm>
          <a:prstGeom prst="roundRect">
            <a:avLst>
              <a:gd name="adj" fmla="val 5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25916" y="4471416"/>
            <a:ext cx="3088538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C49A3A"/>
                </a:solidFill>
                <a:latin typeface="Calibri"/>
              </a:rPr>
              <a:t>24 JULY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5916" y="4718304"/>
            <a:ext cx="3088538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0B2545"/>
                </a:solidFill>
                <a:latin typeface="Georgia"/>
              </a:rPr>
              <a:t>MEP first fix complete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5916" y="5221224"/>
            <a:ext cx="3088538" cy="5120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4A4A4A"/>
                </a:solidFill>
                <a:latin typeface="Calibri"/>
              </a:rPr>
              <a:t>Mechanical, electrical, and plumbing first fix signed off.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325916" y="5687568"/>
            <a:ext cx="868680" cy="256032"/>
          </a:xfrm>
          <a:prstGeom prst="roundRect">
            <a:avLst>
              <a:gd name="adj" fmla="val 45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325916" y="5687568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3F7A52"/>
                </a:solidFill>
                <a:latin typeface="Calibri"/>
              </a:rPr>
              <a:t>On track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1" name="Picture 50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05 / 08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49A3A"/>
                </a:solidFill>
                <a:latin typeface="Calibri"/>
              </a:rPr>
              <a:t>NEXT FORTNIGHT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What lands in the next 14 days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91640"/>
            <a:ext cx="5364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Tasks completing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48640" y="2057400"/>
            <a:ext cx="5364327.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48640" y="21945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49A3A"/>
                </a:solidFill>
                <a:latin typeface="Georgia"/>
              </a:rPr>
              <a:t>30 Apr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2194560"/>
            <a:ext cx="4312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Permit applications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2414016"/>
            <a:ext cx="4312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Permit Consultant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49A3A"/>
                </a:solidFill>
                <a:latin typeface="Georgia"/>
              </a:rPr>
              <a:t>1 May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51760"/>
            <a:ext cx="4312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Tender &amp; contractor selection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2871216"/>
            <a:ext cx="43127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PM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91640"/>
            <a:ext cx="53643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B2545"/>
                </a:solidFill>
                <a:latin typeface="Georgia"/>
              </a:rPr>
              <a:t>Milestones in window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78727.5" y="2057400"/>
            <a:ext cx="5364327.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78727" y="21945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49A3A"/>
                </a:solidFill>
                <a:latin typeface="Georgia"/>
              </a:rPr>
              <a:t>30 Apr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30287" y="2194560"/>
            <a:ext cx="33983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Permits 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30287" y="2414016"/>
            <a:ext cx="33983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Permit Consultant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728655" y="2286000"/>
            <a:ext cx="868680" cy="237744"/>
          </a:xfrm>
          <a:prstGeom prst="roundRect">
            <a:avLst>
              <a:gd name="adj" fmla="val 45000"/>
            </a:avLst>
          </a:prstGeom>
          <a:solidFill>
            <a:srgbClr val="F7EF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28655" y="228600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AE7A2A"/>
                </a:solidFill>
                <a:latin typeface="Calibri"/>
              </a:rPr>
              <a:t>At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651760"/>
            <a:ext cx="1005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C49A3A"/>
                </a:solidFill>
                <a:latin typeface="Georgia"/>
              </a:rPr>
              <a:t>1 May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30287" y="2651760"/>
            <a:ext cx="33983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Contractor appointed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0287" y="2871216"/>
            <a:ext cx="3398367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728655" y="2743200"/>
            <a:ext cx="868680" cy="237744"/>
          </a:xfrm>
          <a:prstGeom prst="roundRect">
            <a:avLst>
              <a:gd name="adj" fmla="val 45000"/>
            </a:avLst>
          </a:prstGeom>
          <a:solidFill>
            <a:srgbClr val="E9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28655" y="2743200"/>
            <a:ext cx="868680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900" b="1" i="0">
                <a:solidFill>
                  <a:srgbClr val="3F7A52"/>
                </a:solidFill>
                <a:latin typeface="Calibri"/>
              </a:rPr>
              <a:t>On track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5" name="Picture 24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06 / 08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94415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C49A3A"/>
                </a:solidFill>
                <a:latin typeface="Calibri"/>
              </a:rPr>
              <a:t>REVIEW NEEDED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77240"/>
            <a:ext cx="11094415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1" i="0">
                <a:solidFill>
                  <a:srgbClr val="0B2545"/>
                </a:solidFill>
                <a:latin typeface="Georgia"/>
              </a:rPr>
              <a:t>Items that need a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4A4A4A"/>
                </a:solidFill>
                <a:latin typeface="Calibri"/>
              </a:rPr>
              <a:t>Bring these to the project review — each one needs a client decision or an escalation to keep the plan on track.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468880"/>
            <a:ext cx="11094415" cy="1143000"/>
          </a:xfrm>
          <a:prstGeom prst="roundRect">
            <a:avLst>
              <a:gd name="adj" fmla="val 4000"/>
            </a:avLst>
          </a:prstGeom>
          <a:solidFill>
            <a:srgbClr val="F7EFDF"/>
          </a:solidFill>
          <a:ln w="9525">
            <a:solidFill>
              <a:srgbClr val="AE7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73152" cy="1143000"/>
          </a:xfrm>
          <a:prstGeom prst="rect">
            <a:avLst/>
          </a:prstGeom>
          <a:solidFill>
            <a:srgbClr val="AE7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63347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AE7A2A"/>
                </a:solidFill>
                <a:latin typeface="Calibri"/>
              </a:rPr>
              <a:t>MILESTONES · M03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07792"/>
            <a:ext cx="10454335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Permit sign-off is trending five working days behind the internal target. Recommend the client clears a pre-meeting slot with the city permits office in the next ten days to de-risk the 30 April date.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07 / 08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02920"/>
            <a:ext cx="548640" cy="45720"/>
          </a:xfrm>
          <a:prstGeom prst="rect">
            <a:avLst/>
          </a:prstGeom>
          <a:solidFill>
            <a:srgbClr val="C49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85800"/>
            <a:ext cx="110944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8A8A8A"/>
                </a:solidFill>
                <a:latin typeface="Calibri"/>
              </a:rPr>
              <a:t>HANDOVER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1094415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B2545"/>
                </a:solidFill>
                <a:latin typeface="Georgia"/>
              </a:rPr>
              <a:t>Questions, or somewhere you'd like me to dig deeper?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291840"/>
            <a:ext cx="887553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1">
                <a:solidFill>
                  <a:srgbClr val="4A4A4A"/>
                </a:solidFill>
                <a:latin typeface="Georgia"/>
              </a:rPr>
              <a:t>This deck pairs with a spreadsheet and an interactive HTML view covering the same plan at full resolution. Both ship with the package for your records.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4846320"/>
            <a:ext cx="3840480" cy="1143000"/>
          </a:xfrm>
          <a:prstGeom prst="roundRect">
            <a:avLst>
              <a:gd name="adj" fmla="val 6000"/>
            </a:avLst>
          </a:prstGeom>
          <a:solidFill>
            <a:srgbClr val="FAFAF7"/>
          </a:solidFill>
          <a:ln w="9525">
            <a:solidFill>
              <a:srgbClr val="EFEF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010912"/>
            <a:ext cx="3291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 i="0">
                <a:solidFill>
                  <a:srgbClr val="8A8A8A"/>
                </a:solidFill>
                <a:latin typeface="Calibri"/>
              </a:rPr>
              <a:t>PROJECT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230368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B2545"/>
                </a:solidFill>
                <a:latin typeface="Georgia"/>
              </a:rPr>
              <a:t>Benjamin Vermeulen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623560"/>
            <a:ext cx="3291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1">
                <a:solidFill>
                  <a:srgbClr val="4A4A4A"/>
                </a:solidFill>
                <a:latin typeface="Calibri"/>
              </a:rPr>
              <a:t>Acme Corp · Acme HQ Office Renovation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48640" y="6373368"/>
            <a:ext cx="11094415" cy="0"/>
          </a:xfrm>
          <a:prstGeom prst="line">
            <a:avLst/>
          </a:prstGeom>
          <a:ln w="6350">
            <a:solidFill>
              <a:srgbClr val="EFEFE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cm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6446520"/>
            <a:ext cx="987552" cy="24688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700784" y="6446520"/>
            <a:ext cx="9210751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1">
                <a:solidFill>
                  <a:srgbClr val="8A8A8A"/>
                </a:solidFill>
                <a:latin typeface="Calibri"/>
              </a:rPr>
              <a:t>Acme Corp · Acme HQ Office Renovation · Status as of 19 April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11535" y="6446520"/>
            <a:ext cx="731520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8A8A8A"/>
                </a:solidFill>
                <a:latin typeface="Calibri"/>
              </a:rPr>
              <a:t>08 / 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