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48640" cy="45720"/>
          </a:xfrm>
          <a:prstGeom prst="rect">
            <a:avLst/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8A8A"/>
                </a:solidFill>
                <a:latin typeface="Calibri"/>
              </a:rPr>
              <a:t>ACME CORP · PROJECT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B2545"/>
                </a:solidFill>
                <a:latin typeface="Georgia"/>
              </a:rPr>
              <a:t>Acme HQ Office Renovation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94302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4A4A4A"/>
                </a:solidFill>
                <a:latin typeface="Georgia"/>
              </a:rPr>
              <a:t>Design phase substantially complete. Permits are the current critical path with a five-day slip — mobilisation for construction is still tracking to 4 May.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766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2545"/>
                </a:solidFill>
                <a:latin typeface="Georgia"/>
              </a:rPr>
              <a:t>Acme Corp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51206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PROJECT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53766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2545"/>
                </a:solidFill>
                <a:latin typeface="Georgia"/>
              </a:rPr>
              <a:t>Benjamin Vermeulen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1206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STATUS AS 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3766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0B2545"/>
                </a:solidFill>
                <a:latin typeface="Georgia"/>
              </a:rPr>
              <a:t>19 April 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49A3A"/>
                </a:solidFill>
                <a:latin typeface="Calibri"/>
              </a:rPr>
              <a:t>EXECUTIVE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Where the project stands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622727" cy="1737360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165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OVERALL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84832"/>
            <a:ext cx="216552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C49A3A"/>
                </a:solidFill>
                <a:latin typeface="Georgia"/>
              </a:rPr>
              <a:t>26%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21655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4A4A"/>
                </a:solidFill>
                <a:latin typeface="Calibri"/>
              </a:rPr>
              <a:t>Duration-weighted average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2535" y="1645920"/>
            <a:ext cx="2622727" cy="1737360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1135" y="1847088"/>
            <a:ext cx="2165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MILESTONES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1135" y="2084832"/>
            <a:ext cx="216552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B2545"/>
                </a:solidFill>
                <a:latin typeface="Georgia"/>
              </a:rPr>
              <a:t>2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1135" y="2971800"/>
            <a:ext cx="21655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4A4A"/>
                </a:solidFill>
                <a:latin typeface="Calibri"/>
              </a:rPr>
              <a:t>Achieved to 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1645920"/>
            <a:ext cx="2622727" cy="1737360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5031" y="1847088"/>
            <a:ext cx="2165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NEXT MILESTONE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031" y="2084832"/>
            <a:ext cx="216552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B2545"/>
                </a:solidFill>
                <a:latin typeface="Georgia"/>
              </a:rPr>
              <a:t>30 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5031" y="2971800"/>
            <a:ext cx="21655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4A4A"/>
                </a:solidFill>
                <a:latin typeface="Calibri"/>
              </a:rPr>
              <a:t>Permits approved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20327" y="1645920"/>
            <a:ext cx="2622727" cy="1737360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847088"/>
            <a:ext cx="2165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SCHEDULE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48927" y="2084832"/>
            <a:ext cx="216552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B2545"/>
                </a:solidFill>
                <a:latin typeface="Georgia"/>
              </a:rPr>
              <a:t>Watch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48927" y="2971800"/>
            <a:ext cx="21655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4A4A"/>
                </a:solidFill>
                <a:latin typeface="Calibri"/>
              </a:rPr>
              <a:t>1 task(s) at risk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40480"/>
            <a:ext cx="50800" cy="1645920"/>
          </a:xfrm>
          <a:prstGeom prst="rect">
            <a:avLst/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10454335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1A1A1A"/>
                </a:solidFill>
                <a:latin typeface="Georgia"/>
              </a:rPr>
              <a:t>Design phase substantially complete. Permits are the current critical path with a five-day slip — mobilisation for construction is still tracking to 4 May.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49A3A"/>
                </a:solidFill>
                <a:latin typeface="Calibri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Phases at a glance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94560" y="2057400"/>
            <a:ext cx="917417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150241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Mar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4150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Apr 2026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24150" y="2057400"/>
            <a:ext cx="0" cy="39502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853741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May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53741" y="2057400"/>
            <a:ext cx="0" cy="39502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27651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Jun 2026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27651" y="2057400"/>
            <a:ext cx="0" cy="39502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557242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Jul 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557242" y="2057400"/>
            <a:ext cx="0" cy="39502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931152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Aug 2026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931152" y="2057400"/>
            <a:ext cx="0" cy="39502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305062" y="1645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Sep 2026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305062" y="2057400"/>
            <a:ext cx="0" cy="39502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235915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Design &amp; Permits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560320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2 Mar — 1 May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94560" y="2359152"/>
            <a:ext cx="2659181" cy="347472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94560" y="2359152"/>
            <a:ext cx="1953919" cy="347472"/>
          </a:xfrm>
          <a:prstGeom prst="roundRect">
            <a:avLst>
              <a:gd name="adj" fmla="val 45000"/>
            </a:avLst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04288" y="2386584"/>
            <a:ext cx="243972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73% complete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00837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Demolition &amp; Structural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09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4 May — 19 Jun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86700" y="3008376"/>
            <a:ext cx="2038705" cy="347472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96428" y="3035808"/>
            <a:ext cx="181924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Calibri"/>
              </a:rPr>
              <a:t>0% complete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6576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Fit-out &amp;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5876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22 Jun — 28 Aug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58364" y="3657600"/>
            <a:ext cx="2969419" cy="347472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8092" y="3685032"/>
            <a:ext cx="274996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Calibri"/>
              </a:rPr>
              <a:t>0% complete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3068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Snagging &amp; Handover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50799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31 Aug — 25 Sep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60742" y="4306824"/>
            <a:ext cx="1107993" cy="347472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70470" y="4334256"/>
            <a:ext cx="88853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Calibri"/>
              </a:rPr>
              <a:t>0% complete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21904" y="2057400"/>
            <a:ext cx="0" cy="3950208"/>
          </a:xfrm>
          <a:prstGeom prst="line">
            <a:avLst/>
          </a:prstGeom>
          <a:ln w="19050">
            <a:solidFill>
              <a:srgbClr val="C49A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001864" y="603504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C49A3A"/>
                </a:solidFill>
                <a:latin typeface="Calibri"/>
              </a:rPr>
              <a:t>TODAY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49A3A"/>
                </a:solidFill>
                <a:latin typeface="Calibri"/>
              </a:rPr>
              <a:t>DETAIL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Task-level Gantt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017520" y="1920240"/>
            <a:ext cx="83512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977176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7841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APR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27841" y="1920240"/>
            <a:ext cx="0" cy="41788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38162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MAY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38162" y="1920240"/>
            <a:ext cx="0" cy="41788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88827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JUN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688827" y="1920240"/>
            <a:ext cx="0" cy="41788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899148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JUL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9148" y="1920240"/>
            <a:ext cx="0" cy="41788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49813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AUG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9813" y="1920240"/>
            <a:ext cx="0" cy="41788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00478" y="16002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8A8A8A"/>
                </a:solidFill>
                <a:latin typeface="Calibri"/>
              </a:rPr>
              <a:t>SEP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400478" y="1920240"/>
            <a:ext cx="0" cy="4178808"/>
          </a:xfrm>
          <a:prstGeom prst="line">
            <a:avLst/>
          </a:prstGeom>
          <a:ln w="508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1920240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Programme &amp; 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1920240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PM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1978043"/>
            <a:ext cx="443784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17520" y="1978043"/>
            <a:ext cx="443784" cy="182880"/>
          </a:xfrm>
          <a:prstGeom prst="roundRect">
            <a:avLst>
              <a:gd name="adj" fmla="val 45000"/>
            </a:avLst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218726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Concept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218726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Architect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82336" y="2276529"/>
            <a:ext cx="443784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582336" y="2276529"/>
            <a:ext cx="443784" cy="182880"/>
          </a:xfrm>
          <a:prstGeom prst="roundRect">
            <a:avLst>
              <a:gd name="adj" fmla="val 45000"/>
            </a:avLst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517212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Detailed design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2517212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Architect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47152" y="2575015"/>
            <a:ext cx="726193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47152" y="2575015"/>
            <a:ext cx="726193" cy="182880"/>
          </a:xfrm>
          <a:prstGeom prst="roundRect">
            <a:avLst>
              <a:gd name="adj" fmla="val 45000"/>
            </a:avLst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815698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Permit applications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2815698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Permit Consultant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29561" y="2873502"/>
            <a:ext cx="968256" cy="182880"/>
          </a:xfrm>
          <a:prstGeom prst="roundRect">
            <a:avLst>
              <a:gd name="adj" fmla="val 45000"/>
            </a:avLst>
          </a:prstGeom>
          <a:solidFill>
            <a:srgbClr val="F7E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29561" y="2873502"/>
            <a:ext cx="532540" cy="182880"/>
          </a:xfrm>
          <a:prstGeom prst="roundRect">
            <a:avLst>
              <a:gd name="adj" fmla="val 45000"/>
            </a:avLst>
          </a:prstGeom>
          <a:solidFill>
            <a:srgbClr val="AE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114185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Tender &amp; contractor selection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114185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PM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11969" y="3171988"/>
            <a:ext cx="726193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711969" y="3171988"/>
            <a:ext cx="254167" cy="182880"/>
          </a:xfrm>
          <a:prstGeom prst="roundRect">
            <a:avLst>
              <a:gd name="adj" fmla="val 45000"/>
            </a:avLst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412671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Site handover &amp; mobilisation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3412671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Contractor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59194" y="3470474"/>
            <a:ext cx="161376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3711157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Demolition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48840" y="3711157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Contractor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41602" y="3768960"/>
            <a:ext cx="726192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009644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Structural alterations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4009644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Structural Engineer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88827" y="4067447"/>
            <a:ext cx="726192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308130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MEP first fix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48840" y="4308130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Contractor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36051" y="4365933"/>
            <a:ext cx="1291009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4606616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Partitions &amp; ceilings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606616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Contractor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83276" y="4664419"/>
            <a:ext cx="1008601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905102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Finishes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48840" y="4905102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Contractor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230501" y="4962906"/>
            <a:ext cx="726192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203589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FF&amp;E installation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48840" y="5203589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FF&amp;E Supplier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95317" y="5261392"/>
            <a:ext cx="443785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502075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Commissioning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48840" y="5502075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Contractor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360134" y="5559878"/>
            <a:ext cx="443784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5800561"/>
            <a:ext cx="228600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Snagging &amp; client sign-off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8840" y="5800561"/>
            <a:ext cx="822960" cy="2984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PM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924950" y="5858364"/>
            <a:ext cx="443785" cy="182880"/>
          </a:xfrm>
          <a:prstGeom prst="roundRect">
            <a:avLst>
              <a:gd name="adj" fmla="val 45000"/>
            </a:avLst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4954033" y="1920240"/>
            <a:ext cx="0" cy="4178808"/>
          </a:xfrm>
          <a:prstGeom prst="line">
            <a:avLst/>
          </a:prstGeom>
          <a:ln w="19050">
            <a:solidFill>
              <a:srgbClr val="C49A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633993" y="1545336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C49A3A"/>
                </a:solidFill>
                <a:latin typeface="Calibri"/>
              </a:rPr>
              <a:t>TODAY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14476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8A8A8A"/>
                </a:solidFill>
                <a:latin typeface="Calibri"/>
              </a:rPr>
              <a:t>Shaded bar: remaining   ·   Accent fill: complete   ·   Warm fill: at risk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9" name="Picture 68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49A3A"/>
                </a:solidFill>
                <a:latin typeface="Calibri"/>
              </a:rP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Milestone tracker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783080"/>
            <a:ext cx="10728655" cy="0"/>
          </a:xfrm>
          <a:prstGeom prst="line">
            <a:avLst/>
          </a:prstGeom>
          <a:ln w="1270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67512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05433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671766" y="1719072"/>
            <a:ext cx="128016" cy="128016"/>
          </a:xfrm>
          <a:prstGeom prst="ellipse">
            <a:avLst/>
          </a:prstGeom>
          <a:solidFill>
            <a:srgbClr val="AE7A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30714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143355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19198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82401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806680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96167" y="1719072"/>
            <a:ext cx="128016" cy="128016"/>
          </a:xfrm>
          <a:prstGeom prst="ellipse">
            <a:avLst/>
          </a:prstGeom>
          <a:solidFill>
            <a:srgbClr val="3F7A5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2286000"/>
            <a:ext cx="3545738" cy="1792224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50592"/>
            <a:ext cx="308853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49A3A"/>
                </a:solidFill>
                <a:latin typeface="Calibri"/>
              </a:rPr>
              <a:t>17 APRIL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6974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Detailed design sign-off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00400"/>
            <a:ext cx="308853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4A"/>
                </a:solidFill>
                <a:latin typeface="Calibri"/>
              </a:rPr>
              <a:t>Detailed drawings, spec, and FF&amp;E schedule approved.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666744"/>
            <a:ext cx="868680" cy="256032"/>
          </a:xfrm>
          <a:prstGeom prst="roundRect">
            <a:avLst>
              <a:gd name="adj" fmla="val 45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66744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3F7A52"/>
                </a:solidFill>
                <a:latin typeface="Calibri"/>
              </a:rPr>
              <a:t>Achieved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2978" y="2286000"/>
            <a:ext cx="3545738" cy="1792224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1578" y="2450592"/>
            <a:ext cx="308853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49A3A"/>
                </a:solidFill>
                <a:latin typeface="Calibri"/>
              </a:rPr>
              <a:t>30 APRIL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1578" y="26974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Permits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1578" y="3200400"/>
            <a:ext cx="308853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4A"/>
                </a:solidFill>
                <a:latin typeface="Calibri"/>
              </a:rPr>
              <a:t>City sign-off on building and mechanical permits. Currently five working days behind the target date.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51578" y="3666744"/>
            <a:ext cx="868680" cy="256032"/>
          </a:xfrm>
          <a:prstGeom prst="roundRect">
            <a:avLst>
              <a:gd name="adj" fmla="val 45000"/>
            </a:avLst>
          </a:prstGeom>
          <a:solidFill>
            <a:srgbClr val="F7E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1578" y="3666744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AE7A2A"/>
                </a:solidFill>
                <a:latin typeface="Calibri"/>
              </a:rPr>
              <a:t>At risk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7316" y="2286000"/>
            <a:ext cx="3545738" cy="1792224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2450592"/>
            <a:ext cx="308853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49A3A"/>
                </a:solidFill>
                <a:latin typeface="Calibri"/>
              </a:rPr>
              <a:t>1 MAY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2697480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Contractor appointed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3200400"/>
            <a:ext cx="308853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4A"/>
                </a:solidFill>
                <a:latin typeface="Calibri"/>
              </a:rPr>
              <a:t>Signed main contract with preferred contractor.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5916" y="3666744"/>
            <a:ext cx="868680" cy="256032"/>
          </a:xfrm>
          <a:prstGeom prst="roundRect">
            <a:avLst>
              <a:gd name="adj" fmla="val 45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5916" y="3666744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3F7A52"/>
                </a:solidFill>
                <a:latin typeface="Calibri"/>
              </a:rPr>
              <a:t>On track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306824"/>
            <a:ext cx="3545738" cy="1792224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471416"/>
            <a:ext cx="308853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49A3A"/>
                </a:solidFill>
                <a:latin typeface="Calibri"/>
              </a:rPr>
              <a:t>8 MAY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718304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Site handover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221224"/>
            <a:ext cx="308853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4A"/>
                </a:solidFill>
                <a:latin typeface="Calibri"/>
              </a:rPr>
              <a:t>Physical handover of the building to the main contractor for works.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87568"/>
            <a:ext cx="868680" cy="256032"/>
          </a:xfrm>
          <a:prstGeom prst="roundRect">
            <a:avLst>
              <a:gd name="adj" fmla="val 45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68756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3F7A52"/>
                </a:solidFill>
                <a:latin typeface="Calibri"/>
              </a:rPr>
              <a:t>On track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2978" y="4306824"/>
            <a:ext cx="3545738" cy="1792224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1578" y="4471416"/>
            <a:ext cx="308853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49A3A"/>
                </a:solidFill>
                <a:latin typeface="Calibri"/>
              </a:rPr>
              <a:t>19 JUNE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1578" y="4718304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Structural alterations complete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1578" y="5221224"/>
            <a:ext cx="308853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4A"/>
                </a:solidFill>
                <a:latin typeface="Calibri"/>
              </a:rPr>
              <a:t>All demolition and structural changes signed off by the engineer.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51578" y="5687568"/>
            <a:ext cx="868680" cy="256032"/>
          </a:xfrm>
          <a:prstGeom prst="roundRect">
            <a:avLst>
              <a:gd name="adj" fmla="val 45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51578" y="568756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3F7A52"/>
                </a:solidFill>
                <a:latin typeface="Calibri"/>
              </a:rPr>
              <a:t>On track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97316" y="4306824"/>
            <a:ext cx="3545738" cy="1792224"/>
          </a:xfrm>
          <a:prstGeom prst="roundRect">
            <a:avLst>
              <a:gd name="adj" fmla="val 5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5916" y="4471416"/>
            <a:ext cx="308853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49A3A"/>
                </a:solidFill>
                <a:latin typeface="Calibri"/>
              </a:rPr>
              <a:t>24 JULY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5916" y="4718304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MEP first fix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5916" y="5221224"/>
            <a:ext cx="308853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A4A4A"/>
                </a:solidFill>
                <a:latin typeface="Calibri"/>
              </a:rPr>
              <a:t>Mechanical, electrical, and plumbing first fix signed off.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25916" y="5687568"/>
            <a:ext cx="868680" cy="256032"/>
          </a:xfrm>
          <a:prstGeom prst="roundRect">
            <a:avLst>
              <a:gd name="adj" fmla="val 45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25916" y="568756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3F7A52"/>
                </a:solidFill>
                <a:latin typeface="Calibri"/>
              </a:rPr>
              <a:t>On track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Picture 50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49A3A"/>
                </a:solidFill>
                <a:latin typeface="Calibri"/>
              </a:rPr>
              <a:t>NEXT FORTNIGHT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What lands in the next 14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364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Tasks completing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2057400"/>
            <a:ext cx="5364327.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21945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49A3A"/>
                </a:solidFill>
                <a:latin typeface="Georgia"/>
              </a:rPr>
              <a:t>30 Apr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43127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Permit 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14016"/>
            <a:ext cx="43127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Permit Consultant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49A3A"/>
                </a:solidFill>
                <a:latin typeface="Georgia"/>
              </a:rPr>
              <a:t>1 May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651760"/>
            <a:ext cx="43127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Tender &amp; contractor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871216"/>
            <a:ext cx="43127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1691640"/>
            <a:ext cx="5364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Milestones in window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78727.5" y="2057400"/>
            <a:ext cx="5364327.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78727" y="21945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49A3A"/>
                </a:solidFill>
                <a:latin typeface="Georgia"/>
              </a:rPr>
              <a:t>30 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0287" y="2194560"/>
            <a:ext cx="33983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Permits approved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0287" y="2414016"/>
            <a:ext cx="33983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Permit Consultant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728655" y="2286000"/>
            <a:ext cx="868680" cy="237744"/>
          </a:xfrm>
          <a:prstGeom prst="roundRect">
            <a:avLst>
              <a:gd name="adj" fmla="val 45000"/>
            </a:avLst>
          </a:prstGeom>
          <a:solidFill>
            <a:srgbClr val="F7E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28655" y="2286000"/>
            <a:ext cx="868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AE7A2A"/>
                </a:solidFill>
                <a:latin typeface="Calibri"/>
              </a:rPr>
              <a:t>At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26517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49A3A"/>
                </a:solidFill>
                <a:latin typeface="Georgia"/>
              </a:rPr>
              <a:t>1 May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0287" y="2651760"/>
            <a:ext cx="33983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Contractor appointed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0287" y="2871216"/>
            <a:ext cx="33983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PM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28655" y="2743200"/>
            <a:ext cx="868680" cy="237744"/>
          </a:xfrm>
          <a:prstGeom prst="roundRect">
            <a:avLst>
              <a:gd name="adj" fmla="val 45000"/>
            </a:avLst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28655" y="2743200"/>
            <a:ext cx="868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3F7A52"/>
                </a:solidFill>
                <a:latin typeface="Calibri"/>
              </a:rPr>
              <a:t>On track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49A3A"/>
                </a:solidFill>
                <a:latin typeface="Calibri"/>
              </a:rPr>
              <a:t>REVIEW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Items that need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4A4A"/>
                </a:solidFill>
                <a:latin typeface="Calibri"/>
              </a:rPr>
              <a:t>Bring these to the project review — each one needs a client decision or an escalation to keep the plan on track.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1094415" cy="1143000"/>
          </a:xfrm>
          <a:prstGeom prst="roundRect">
            <a:avLst>
              <a:gd name="adj" fmla="val 4000"/>
            </a:avLst>
          </a:prstGeom>
          <a:solidFill>
            <a:srgbClr val="F7EFDF"/>
          </a:solidFill>
          <a:ln w="9525">
            <a:solidFill>
              <a:srgbClr val="AE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73152" cy="1143000"/>
          </a:xfrm>
          <a:prstGeom prst="rect">
            <a:avLst/>
          </a:prstGeom>
          <a:solidFill>
            <a:srgbClr val="AE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E7A2A"/>
                </a:solidFill>
                <a:latin typeface="Calibri"/>
              </a:rPr>
              <a:t>MILESTONES · M03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07792"/>
            <a:ext cx="1045433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Permit sign-off is trending five working days behind the internal target. Recommend the client clears a pre-meeting slot with the city permits office in the next ten days to de-risk the 30 April date.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548640" cy="45720"/>
          </a:xfrm>
          <a:prstGeom prst="rect">
            <a:avLst/>
          </a:prstGeom>
          <a:solidFill>
            <a:srgbClr val="C4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8A8A"/>
                </a:solidFill>
                <a:latin typeface="Calibri"/>
              </a:rPr>
              <a:t>HANDOVER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B2545"/>
                </a:solidFill>
                <a:latin typeface="Georgia"/>
              </a:rPr>
              <a:t>Questions, or somewhere you'd like me to dig deeper?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887553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1">
                <a:solidFill>
                  <a:srgbClr val="4A4A4A"/>
                </a:solidFill>
                <a:latin typeface="Georgia"/>
              </a:rPr>
              <a:t>This deck pairs with a spreadsheet and an interactive HTML view covering the same plan at full resolution. Both ship with the package for your records.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846320"/>
            <a:ext cx="3840480" cy="1143000"/>
          </a:xfrm>
          <a:prstGeom prst="roundRect">
            <a:avLst>
              <a:gd name="adj" fmla="val 6000"/>
            </a:avLst>
          </a:prstGeom>
          <a:solidFill>
            <a:srgbClr val="FAFAF7"/>
          </a:solidFill>
          <a:ln w="9525">
            <a:solidFill>
              <a:srgbClr val="EFE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109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8A8A"/>
                </a:solidFill>
                <a:latin typeface="Calibri"/>
              </a:rPr>
              <a:t>PROJECT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303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B2545"/>
                </a:solidFill>
                <a:latin typeface="Georgia"/>
              </a:rPr>
              <a:t>Benjamin Vermeulen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4A4A"/>
                </a:solidFill>
                <a:latin typeface="Calibri"/>
              </a:rPr>
              <a:t>Acme Corp · Acme HQ Office Renovation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73368"/>
            <a:ext cx="11094415" cy="0"/>
          </a:xfrm>
          <a:prstGeom prst="line">
            <a:avLst/>
          </a:prstGeom>
          <a:ln w="6350">
            <a:solidFill>
              <a:srgbClr val="EFE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cm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0"/>
            <a:ext cx="987552" cy="246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00784" y="6446520"/>
            <a:ext cx="921075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A8A8A"/>
                </a:solidFill>
                <a:latin typeface="Calibri"/>
              </a:rPr>
              <a:t>Acme Corp · Acme HQ Office Renovation · Status as of 19 April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46520"/>
            <a:ext cx="7315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8A8A"/>
                </a:solidFill>
                <a:latin typeface="Calibri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